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CD7"/>
                </a:solidFill>
              </a:rPr>
              <a:t>Pattern 1  |  90分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AI基礎講義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0C4E8"/>
                </a:solidFill>
              </a:rPr>
              <a:t>「AIを知る・使う」― 壁を下げ、業務で使える自分になる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A8D"/>
                </a:solidFill>
              </a:rPr>
              <a:t>【日付】　【講師名】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本日のゴール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個人でAIを使っている状態　→　仕事でAIを使える状態へ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190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AIを「怖い・難しい」から「使えるツール」に変える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5798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今日の終わりに：議事録・メール・要約を自分で試せる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あなたのAI現在地は？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ChatGPT / Copilot / Gemini を使ったことがある？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190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業務でAIを使っている？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CCCCCC"/>
                </a:solidFill>
              </a:rPr>
              <a:t>※ チェック項目 / アンケート結果を貼り付け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8D"/>
                </a:solidFill>
              </a:rPr>
              <a:t>📌 オープニング 5分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生成AIとは何か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0ECFF"/>
                </a:solidFill>
              </a:rPr>
              <a:t>LLMの仕組みと限界を平易に理解する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生成AIとは何か：LLMの仕組み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LLM（大規模言語モデル）とは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190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どうやって「文章を生成」しているか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5798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なぜ「賢く見える」のか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CCCCCC"/>
                </a:solidFill>
              </a:rPr>
              <a:t>※ 図解：LLMの仕組みを挿入（トークン予測・確率分布など）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8D"/>
                </a:solidFill>
              </a:rPr>
              <a:t>📌 Section 1  |  20分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なぜ間違えるのか：ハルシネーション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「確率的な次の単語予測」という本質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190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ハルシネーション（事実と異なる回答）が起きるメカニズム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5798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知識のカットオフ日とは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9689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→ だから「確認」が重要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8D"/>
                </a:solidFill>
              </a:rPr>
              <a:t>📌 Section 1  |  20分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AIツール実践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0ECFF"/>
                </a:solidFill>
              </a:rPr>
              <a:t>プロンプト設計＋業務ユースケース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プロンプト設計：良い例 vs 悪い例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03520" cy="411480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❌ 悪い例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303520" cy="411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070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✅ 良い例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5303520" cy="45720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CCCCCC"/>
                </a:solidFill>
              </a:rPr>
              <a:t>※ここに内容を入力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91640"/>
            <a:ext cx="5303520" cy="45720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CCCCCC"/>
                </a:solidFill>
              </a:rPr>
              <a:t>※ここに内容を入力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業務ユースケース①：議事録自動生成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使い方・プロンプト例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CCCCCC"/>
                </a:solidFill>
              </a:rPr>
              <a:t>※ ライブデモ画面キャプチャ or プロンプトテンプレートを挿入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8D"/>
                </a:solidFill>
              </a:rPr>
              <a:t>📌 Section 2  |  40分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業務ユースケース②：メール文案生成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使い方・プロンプト例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CCCCCC"/>
                </a:solidFill>
              </a:rPr>
              <a:t>※ ライブデモ画面キャプチャ or プロンプトテンプレートを挿入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8D"/>
                </a:solidFill>
              </a:rPr>
              <a:t>📌 Section 2  |  40分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業務ユースケース③：文章要約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使い方・プロンプト例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CCCCCC"/>
                </a:solidFill>
              </a:rPr>
              <a:t>※ ライブデモ画面キャプチャ or プロンプトテンプレートを挿入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8D"/>
                </a:solidFill>
              </a:rPr>
              <a:t>📌 Section 2  |  40分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1645920" cy="548640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✏  ワーク（5分）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自分で打ってみよう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1031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C4E8"/>
                </a:solidFill>
              </a:rPr>
              <a:t>1問だけ、実際にプロンプトを入力して送信してみましょう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926080"/>
            <a:ext cx="11430000" cy="338328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CCCCCC"/>
                </a:solidFill>
              </a:rPr>
              <a:t>※ワーク内容・手順をここに記載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社会・産業へのAI浸透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0ECFF"/>
                </a:solidFill>
              </a:rPr>
              <a:t>業種別事例と競合動向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業種別導入事例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CD7"/>
                </a:solidFill>
              </a:rPr>
              <a:t>事例①　【受講者企業に近い業種】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190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（事例内容）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5798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CD7"/>
                </a:solidFill>
              </a:rPr>
              <a:t>事例②　【受講者企業に近い業種】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9689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（事例内容）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35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CD7"/>
                </a:solidFill>
              </a:rPr>
              <a:t>事例③　【受講者企業に近い業種】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（事例内容）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8D"/>
                </a:solidFill>
              </a:rPr>
              <a:t>📌 Section 3  |  15分 ｜ 受講者企業の業種に合わせて事例を差し替えること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リスクと注意点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0ECFF"/>
                </a:solidFill>
              </a:rPr>
              <a:t>安全に使うための最低限の知識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リスクと注意点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情報漏洩リスク：入力してはいけない情報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190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ハルシネーション：出力を鵜呑みにしない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5798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著作権・利用規約の確認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9689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社内ルールの確認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8D"/>
                </a:solidFill>
              </a:rPr>
              <a:t>📌 Section 4  |  10分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まとめ・Q&amp;A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今日のポイント３つ（振り返り）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190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明日からできること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CCCCCC"/>
                </a:solidFill>
              </a:rPr>
              <a:t>※ Q&amp;Aメモ欄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8D"/>
                </a:solidFill>
              </a:rPr>
              <a:t>📌 10分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