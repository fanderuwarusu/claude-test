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D7"/>
                </a:solidFill>
              </a:rPr>
              <a:t>Pattern 1  |  90分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AI基礎講義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C4E8"/>
                </a:solidFill>
              </a:rPr>
              <a:t>「AIを知る・使う」― 壁を下げ、業務で使える自分になる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8D"/>
                </a:solidFill>
              </a:rPr>
              <a:t>【日付】　【講師名】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本日のアジェンダ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548640" cy="65836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161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1078992"/>
            <a:ext cx="6537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21615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</a:rPr>
              <a:t>オープニング：今日のゴールと受講者のAI現在地確認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078992"/>
            <a:ext cx="1371600" cy="658368"/>
          </a:xfrm>
          <a:prstGeom prst="rect">
            <a:avLst/>
          </a:prstGeom>
          <a:solidFill>
            <a:srgbClr val="D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2161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CD7"/>
                </a:solidFill>
              </a:rPr>
              <a:t>5分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73936"/>
            <a:ext cx="548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1109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1773936"/>
            <a:ext cx="6537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191109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</a:rPr>
              <a:t>生成AIとは何か：LLMの仕組みと限界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773936"/>
            <a:ext cx="1371600" cy="658368"/>
          </a:xfrm>
          <a:prstGeom prst="rect">
            <a:avLst/>
          </a:prstGeom>
          <a:solidFill>
            <a:srgbClr val="D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9110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CD7"/>
                </a:solidFill>
              </a:rPr>
              <a:t>20分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548640" cy="65836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0604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2468880"/>
            <a:ext cx="6537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26060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</a:rPr>
              <a:t>AIツール実践：プロンプト設計＋業務ユースケース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468880"/>
            <a:ext cx="1371600" cy="658368"/>
          </a:xfrm>
          <a:prstGeom prst="rect">
            <a:avLst/>
          </a:prstGeom>
          <a:solidFill>
            <a:srgbClr val="D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6060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CD7"/>
                </a:solidFill>
              </a:rPr>
              <a:t>40分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63824"/>
            <a:ext cx="548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30098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" y="3163824"/>
            <a:ext cx="6537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30098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</a:rPr>
              <a:t>社会・産業へのAI浸透：競合・事例・動向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163824"/>
            <a:ext cx="1371600" cy="658368"/>
          </a:xfrm>
          <a:prstGeom prst="rect">
            <a:avLst/>
          </a:prstGeom>
          <a:solidFill>
            <a:srgbClr val="D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00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CD7"/>
                </a:solidFill>
              </a:rPr>
              <a:t>15分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58768"/>
            <a:ext cx="548640" cy="65836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9959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" y="3858768"/>
            <a:ext cx="6537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9959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4A"/>
                </a:solidFill>
              </a:rPr>
              <a:t>リスクと注意点＋Q&amp;A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858768"/>
            <a:ext cx="1371600" cy="658368"/>
          </a:xfrm>
          <a:prstGeom prst="rect">
            <a:avLst/>
          </a:prstGeom>
          <a:solidFill>
            <a:srgbClr val="D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9959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CD7"/>
                </a:solidFill>
              </a:rPr>
              <a:t>10分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今日終わったら何が変わるか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個人でAIを使っている状態　→　仕事でAIを使える状態へ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AIを「怖い・難しい」から「使えるツール」に変える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今日の終わりに：議事録・メール・要約を自分で試せる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オープニング  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あなたの今のAI使用状況は？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ChatGPT / Copilot / Gemini を使ったことがある？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業務でAIを使っている？（週に何回くらい？）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841248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 チェック項目 / アンケート結果スクリーンショットを貼り付け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オープニング  5分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生成AIとは何か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ECFF"/>
                </a:solidFill>
              </a:rPr>
              <a:t>LLMの仕組みと限界を平易に理解する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そもそもAIとは何か：LLMの仕組み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LLM（大規模言語モデル）とは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どうやって「文章を生成」しているか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なぜ「賢く見える」のか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841248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 図解：LLMの仕組み（トークン予測・確率分布）を挿入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なぜAIは間違えるのか：ハルシネーション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「確率的な次の単語予測」という本質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ハルシネーション（事実と異なる回答）が起きるメカニズム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知識のカットオフ日とは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→ だから「確認」が重要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AIにできること・できないこと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4023360" cy="38404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9728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得意なこと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078992"/>
            <a:ext cx="40233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09728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❌ 苦手なこと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・文章の要約・生成・翻訳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・アイデア出し・ブレスト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・コード補完・デバッグ支援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・定型メール・報告書の下書き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・データ整形・変換のコード生成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72768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・最新情報の取得（カットオフ以降）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・正確な数値計算・統計処理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・社内固有ルールの自律判断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・責任ある意思決定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・感情・文脈の深い読み取り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ChatGPT・Claude・Gemini、何が違うか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ChatGPT（OpenAI）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最も普及。GPT-4o。Copilot との連携で企業利用拡大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Claude（Anthropic）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長文処理・安全性重視。コンテキストウィンドウが広い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Gemini（Google）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Google Workspace との統合。検索連動で最新情報に強い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AIツール実践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ECFF"/>
                </a:solidFill>
              </a:rPr>
              <a:t>プロンプト設計＋業務ユースケース（40分）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良いプロンプトと悪いプロンプト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4023360" cy="38404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9728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❌ 悪い例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078992"/>
            <a:ext cx="40233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09728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良い例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・「まとめて」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・「なんかいい感じに」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・「報告書を書いて」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・→ 曖昧・ゴールが不明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72768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・役割を指定する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・背景・条件を明示する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・出力形式を指定する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・例を示す（Few-shot）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4A"/>
                </a:solidFill>
              </a:rPr>
              <a:t>・→ 具体・制約・ゴールが明確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ライブデモ①：議事録の自動要約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手順：音声テキスト or 議事録テキストをそのまま貼り付ける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プロンプト例：「以下の議事録を要約してください。決定事項・TODO・懸念点を箇条書きで」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841248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 ライブデモ画面キャプチャ / プロンプトテンプレートを挿入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2  |  40分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ライブデモ②：メール文案の生成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手順：背景・相手・目的をひとこと伝えるだけ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プロンプト例：「社内の営業部に依頼するメールを丁寧なビジネス文体で書いて」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841248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 ライブデモ画面キャプチャ / プロンプトテンプレートを挿入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2  |  40分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554480" cy="50292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✏  ワーク（5分）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自分でプロンプトを1つ打ってみよう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C4E8"/>
                </a:solidFill>
              </a:rPr>
              <a:t>今日学んだ「良いプロンプトの型」を使って、実際に1問送信しましょう（5分）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788920"/>
            <a:ext cx="841248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※ワーク内容・手順をここに記載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社会・産業へのAI浸透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ECFF"/>
                </a:solidFill>
              </a:rPr>
              <a:t>業種別事例と「他社はここまでやっている」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業種別 AI導入事例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事例①　【受講者企業に近い業種】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※事例内容・効果をここに記載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事例②　【受講者企業に近い業種】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※事例内容・効果をここに記載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事例③　【受講者企業に近い業種】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※事例内容・効果をここに記載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3  |  15分  ｜  受講者企業の業種に合わせて差し替えること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リスクと注意点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ECFF"/>
                </a:solidFill>
              </a:rPr>
              <a:t>安全に使うための最低限の知識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AIを使う上でのリスクと注意点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情報漏洩リスク：個人情報・社外秘は入力しない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ハルシネーション：出力は必ず確認・ファクトチェック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著作権・利用規約：商用利用時は各サービスの規約を確認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社内ルールの確認：利用可能なツール・用途を把握しておく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Section 4  |  10分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まとめ・Q&amp;A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>
                <a:solidFill>
                  <a:srgbClr val="008CD7"/>
                </a:solidFill>
              </a:rPr>
              <a:t>今日の3つのポイント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① AIは「確率的な文章予測」――必ず確認する習慣を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② 良いプロンプトは「役割・条件・形式」を明示する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2E4A"/>
                </a:solidFill>
              </a:rPr>
              <a:t>▶  ③ 他社はすでに動いている――まず1つ業務で試してみる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937760"/>
            <a:ext cx="8412480" cy="1463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CCCCCC"/>
                </a:solidFill>
              </a:rPr>
              <a:t>※ Q&amp;Aメモ欄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8D"/>
                </a:solidFill>
              </a:rPr>
              <a:t>📌 10分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